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d6fd5f0f347ff" /><Relationship Type="http://schemas.openxmlformats.org/officeDocument/2006/relationships/extended-properties" Target="/docProps/app.xml" Id="Rc52cd07eb1c04e86" /><Relationship Type="http://schemas.openxmlformats.org/officeDocument/2006/relationships/officeDocument" Target="/ppt/presentation.xml" Id="R7bf21d2f86e1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b604f9d904d95"/>
  </p:sldMasterIdLst>
  <p:notesMasterIdLst>
    <p:notesMasterId xmlns:r="http://schemas.openxmlformats.org/officeDocument/2006/relationships" r:id="Rb6e28432658e4e49"/>
  </p:notesMasterIdLst>
  <p:sldIdLst>
    <p:sldId xmlns:r="http://schemas.openxmlformats.org/officeDocument/2006/relationships" id="256" r:id="R93e116ac755e4fc9"/>
    <p:sldId xmlns:r="http://schemas.openxmlformats.org/officeDocument/2006/relationships" id="257" r:id="R6b519be7b1614d9f"/>
    <p:sldId xmlns:r="http://schemas.openxmlformats.org/officeDocument/2006/relationships" id="258" r:id="R2dd0172199d648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da84112ceb426f" /><Relationship Type="http://schemas.openxmlformats.org/officeDocument/2006/relationships/slideMaster" Target="/ppt/slideMasters/slideMaster1.xml" Id="Rbe3b604f9d904d95" /><Relationship Type="http://schemas.openxmlformats.org/officeDocument/2006/relationships/notesMaster" Target="/ppt/notesMasters/notesMaster1.xml" Id="Rb6e28432658e4e49" /><Relationship Type="http://schemas.openxmlformats.org/officeDocument/2006/relationships/presProps" Target="/ppt/presProps.xml" Id="Rcaa0474e28db40aa" /><Relationship Type="http://schemas.openxmlformats.org/officeDocument/2006/relationships/tableStyles" Target="/ppt/tableStyles.xml" Id="Rba8ffc021e434328" /><Relationship Type="http://schemas.openxmlformats.org/officeDocument/2006/relationships/slide" Target="/ppt/slides/slide1.xml" Id="R93e116ac755e4fc9" /><Relationship Type="http://schemas.openxmlformats.org/officeDocument/2006/relationships/slide" Target="/ppt/slides/slide2.xml" Id="R6b519be7b1614d9f" /><Relationship Type="http://schemas.openxmlformats.org/officeDocument/2006/relationships/slide" Target="/ppt/slides/slide3.xml" Id="R2dd0172199d6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dbc525cc0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ac2aebd894dbd" /><Relationship Type="http://schemas.openxmlformats.org/officeDocument/2006/relationships/notesMaster" Target="/ppt/notesMasters/notesMaster1.xml" Id="Ra73fb9005bcb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ed36e4fe1b4859" /><Relationship Type="http://schemas.openxmlformats.org/officeDocument/2006/relationships/notesMaster" Target="/ppt/notesMasters/notesMaster1.xml" Id="R9c36bf0f7732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b907364f94a6f" /><Relationship Type="http://schemas.openxmlformats.org/officeDocument/2006/relationships/notesMaster" Target="/ppt/notesMasters/notesMaster1.xml" Id="R88dcfaff0aec42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2905ff549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2d11502b449d9" /><Relationship Type="http://schemas.openxmlformats.org/officeDocument/2006/relationships/slideLayout" Target="/ppt/slideLayouts/slideLayout1.xml" Id="R1c8d3abe888f48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d3abe888f48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b02703ab430f" /><Relationship Type="http://schemas.openxmlformats.org/officeDocument/2006/relationships/notesSlide" Target="/ppt/notesSlides/notesSlide1.xml" Id="R94f8474ad0f049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758f55404435" /><Relationship Type="http://schemas.openxmlformats.org/officeDocument/2006/relationships/notesSlide" Target="/ppt/notesSlides/notesSlide2.xml" Id="R4adebb001bcd4c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8bba2fb524e45" /><Relationship Type="http://schemas.openxmlformats.org/officeDocument/2006/relationships/notesSlide" Target="/ppt/notesSlides/notesSlide3.xml" Id="Rf1678c5fa4bf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91F25-9DF2-452F-8B87-73CCCCC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WHY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26D5E-1EBD-4387-9D46-D5E71744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従来運用の限界: 作業は進むが、全体が見えにくい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1DF24-EA77-48DA-9EB6-9F993E9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ファイル管理とDDW入力だけでは、届出準備・根拠確認・変更期限・承認履歴が分断されやすい。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09BAB-C3CF-456B-8EBE-25115B85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4F366-6C55-423A-8EC9-E11E89C9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5E6D0-164C-48AC-A264-BA32F27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4AC27-DD19-4289-90BC-FC655F2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情報が分散する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5A71-BB71-4C4A-8C50-3204FBF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Word/Excel/PDF/メール/Teamsに作業痕跡が散らばり、最新版・根拠資料・確認状況を探す時間が増える。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65C72-23B6-4AD7-AE5B-4D60CCE1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B664B-7EA7-453C-88A0-BBF325F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476DC-81FE-4F86-A263-FBC5ECC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DBA09-B63D-4980-B452-544F561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変更と期限が属人化する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326B8-E016-47DD-AAFA-1A484AF5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分担医師変更などの6か月/12か月期限、変更届の版管理、外字確認が担当者の記憶に依存しやすい。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63456-ABC7-4382-AFDE-392A95A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860C5-AE64-458B-9B76-E53BED59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35566-6244-4868-834E-F8A8F91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47EE6-22EC-460C-A37A-AED7573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DDW前提のワークフローの限界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44B11-2C5C-452D-9E57-31B3AEC5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DDWには入力結果は残るが、社内の根拠確認・レビュー・承認・変更判断の過程は別管理になりやすい。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90D8F-3973-4245-963D-9F82096B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1/3</a:t>
            </a:r>
          </a:p>
        </p:txBody>
      </p:sp>
    </p:spTree>
    <p:extLst>
      <p:ext uri="{BB962C8B-B14F-4D97-AF65-F5344CB8AC3E}">
        <p14:creationId xmlns:p14="http://schemas.microsoft.com/office/powerpoint/2010/main" val="1845662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B0545-4E83-485E-A653-1A57A2C0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TARGET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C8237-E75F-46FF-B589-C86DF28B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CTN作成支援: 届出データを中心に業務を統合する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F9066-919A-4122-86A6-88AC214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SharePointは文書・根拠保管、Dataverseは構造化データ、ダッシュボードは進捗・期限・承認を担う。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D84D6-0C37-4708-9672-9BFD6700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203F8-643C-48B9-A43A-04C0919D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A2BED-E669-4E78-961B-317F0EA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1A6E6-D094-49A3-92DC-6167EBCF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マスタ変更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753E5-9EBC-4E2D-8E94-D99AD092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医師・医療機関・薬剤などの変更を一元登録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E6742-DFCA-46DF-8B87-EEE20A81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07654-5D50-480D-AE78-6DC09D2F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8B977-9629-47C5-8622-65D5D14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B1FD4-1A7F-494C-87DC-9A6CADBE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届出候補化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FAB85-2770-45C4-A65E-887D5643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変更種別から届出要否と提出期限を自動判定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4B6E6-EF8A-4DDE-8517-0EED723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EB3E2-4B36-43F9-8CE0-64222AF9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B9356-19EB-4A40-BB45-7A8EB05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B49F2-62A8-4FCA-97DF-D127C3F2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入力・根拠リンク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60B23-F5B3-4850-A94D-025EB44F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届出項目とSharePoint資料を紐づけて確認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E2BC1-C57C-4107-AE15-0DB3457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78F57-7DDF-4424-943E-245A503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BB834-9B7E-4948-92C3-2D87E6DB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D50D8-0A5A-4E31-ABCC-86EB1BB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レビュー・承認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1E1B1-8352-4764-8D13-66E1742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起票、レビュー、承認をダッシュボードで集中管理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2DD60-295A-4368-97B2-DB9AC2B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2503C-673A-4A69-B130-AED1593A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16D24-4D17-4708-BF1D-133F617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68832-05E8-4B51-AC6D-EC25244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出力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A90EE-242F-47AE-A682-6E861DDF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承認後のみPDFイメージ確認とXML出力を有効化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C318A-15B9-4B9C-83BC-63A4E70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94C55-BB9E-4D5A-BD1A-A0CA09E5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BDED2-966F-4E8C-B5CC-757E256E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7D22F-D535-4695-B668-8D848D4A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EBB853-D2BA-46A9-915D-F2BCF132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895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57C155-FE94-448A-90BF-549874DE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設計上のポイント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F63D4-F1AA-44F5-A03D-34EE2CC6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96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B4F4A"/>
                </a:solidFill>
              </a:defRPr>
            </a:pPr>
            <a:r>
              <a:rPr sz="1050" b="0">
                <a:solidFill>
                  <a:srgbClr val="0B4F4A"/>
                </a:solidFill>
              </a:rPr>
              <a:t>入力画面にワークフローを埋め込まず、ダッシュボードで複数届・複数変更を横断管理する。DDWは最終登録先として位置づけ、社内の準備品質を高める。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BE4876-CD7D-4CFD-9D51-1CF93F7D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2/3</a:t>
            </a:r>
          </a:p>
        </p:txBody>
      </p:sp>
    </p:spTree>
    <p:extLst>
      <p:ext uri="{BB962C8B-B14F-4D97-AF65-F5344CB8AC3E}">
        <p14:creationId xmlns:p14="http://schemas.microsoft.com/office/powerpoint/2010/main" val="185621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A9A013-C399-4E05-9261-8C5B8E5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MVP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0799E-8BDA-42D9-A121-F0A9468B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MVPで示すべき改善効果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A3A46-F2C6-49E9-A2C9-84509100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初回届20製品、各10回以上の変更届が並行しても、進捗・期限・差分・承認を同じ画面で追える状態を作る。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38876-7269-4143-92E3-8C3360E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E6BE4-BE51-453E-AC2B-F9D494D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7DDFA-F7E1-47E4-9057-717352AD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最新版と差分が見える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96745-FC96-46EB-A9F7-89847EF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届出単位、製品単位、版単位で変更履歴を持ち、既存PDF取込後の変更管理にもつなげる。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DB918-8430-4721-9ABE-B3FB84A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ED47-0E9C-40D1-B41B-23EE08D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0FB29-EC83-4022-97CB-10441F6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期限漏れを防ぐ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FF6AE-B947-4BE1-B45B-5E868163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変更日を起点に6か月/12か月期限を算出し、担当者・承認者へリマインドする。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D089E-27A3-481C-B7B4-B9AD614E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AF175-FD0E-4011-A982-D9FAF800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9525">
            <a:solidFill>
              <a:srgbClr val="00B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B5EC7-364F-4D98-8DDC-61679AD0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レビューと承認を統制する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16BDF-12BC-4ADB-8D81-1AD42F60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起票、レビュー、承認、出力を分け、承認前のPDF/XML出力を抑止する。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9D77C-DAA5-471E-BE15-B55C58A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409AE-0569-489B-9BCE-3C78291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9525">
            <a:solidFill>
              <a:srgbClr val="FF20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CCC6D-246D-4F4A-9A70-F010D4AE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入力品質を上げる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16708-2DC1-408F-B0E1-A498F6C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33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外字、表記ゆれ、順序番号、複数医師・施設・薬剤の入力チェックを構造化する。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ACAB5-84F5-47D4-9DE6-1D0DEADA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B08DE-8FCB-466F-AE88-AD74F486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結論: DDWを置き換えるのではなく、DDW入力前後の社内プロセスを構造化し、提出品質と期限管理を安定させる。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AFEDA-C6DF-4009-92ED-A6EA71DD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3/3</a:t>
            </a:r>
          </a:p>
        </p:txBody>
      </p:sp>
    </p:spTree>
    <p:extLst>
      <p:ext uri="{BB962C8B-B14F-4D97-AF65-F5344CB8AC3E}">
        <p14:creationId xmlns:p14="http://schemas.microsoft.com/office/powerpoint/2010/main" val="1576024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2026-06-16T07:20:07.3230000Z</dcterms:created>
  <dcterms:modified xsi:type="dcterms:W3CDTF">2026-06-16T07:20:07.3230000Z</dcterms:modified>
</coreProperties>
</file>