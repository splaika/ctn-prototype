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6cc041081be46fd" /><Relationship Type="http://schemas.openxmlformats.org/officeDocument/2006/relationships/extended-properties" Target="/docProps/app.xml" Id="R66ba404b8822400f" /><Relationship Type="http://schemas.openxmlformats.org/officeDocument/2006/relationships/officeDocument" Target="/ppt/presentation.xml" Id="Rbe08e71d3d54426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9599c6667b64f79"/>
  </p:sldMasterIdLst>
  <p:notesMasterIdLst>
    <p:notesMasterId xmlns:r="http://schemas.openxmlformats.org/officeDocument/2006/relationships" r:id="R7e8a109117694241"/>
  </p:notesMasterIdLst>
  <p:sldIdLst>
    <p:sldId xmlns:r="http://schemas.openxmlformats.org/officeDocument/2006/relationships" id="256" r:id="R2a17d1fd840c4c77"/>
    <p:sldId xmlns:r="http://schemas.openxmlformats.org/officeDocument/2006/relationships" id="257" r:id="R9ca0455cefd04205"/>
    <p:sldId xmlns:r="http://schemas.openxmlformats.org/officeDocument/2006/relationships" id="258" r:id="Rcfccfbb4bda44a3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839d90b04754de3" /><Relationship Type="http://schemas.openxmlformats.org/officeDocument/2006/relationships/slideMaster" Target="/ppt/slideMasters/slideMaster1.xml" Id="R89599c6667b64f79" /><Relationship Type="http://schemas.openxmlformats.org/officeDocument/2006/relationships/notesMaster" Target="/ppt/notesMasters/notesMaster1.xml" Id="R7e8a109117694241" /><Relationship Type="http://schemas.openxmlformats.org/officeDocument/2006/relationships/presProps" Target="/ppt/presProps.xml" Id="R4639156d44a940c0" /><Relationship Type="http://schemas.openxmlformats.org/officeDocument/2006/relationships/tableStyles" Target="/ppt/tableStyles.xml" Id="R37eb7590aaf54c90" /><Relationship Type="http://schemas.openxmlformats.org/officeDocument/2006/relationships/slide" Target="/ppt/slides/slide1.xml" Id="R2a17d1fd840c4c77" /><Relationship Type="http://schemas.openxmlformats.org/officeDocument/2006/relationships/slide" Target="/ppt/slides/slide2.xml" Id="R9ca0455cefd04205" /><Relationship Type="http://schemas.openxmlformats.org/officeDocument/2006/relationships/slide" Target="/ppt/slides/slide3.xml" Id="Rcfccfbb4bda44a3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94b5c53fe764cd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1e148142b374162" /><Relationship Type="http://schemas.openxmlformats.org/officeDocument/2006/relationships/notesMaster" Target="/ppt/notesMasters/notesMaster1.xml" Id="R732d4617b6584ce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6a9e4ce44974e82" /><Relationship Type="http://schemas.openxmlformats.org/officeDocument/2006/relationships/notesMaster" Target="/ppt/notesMasters/notesMaster1.xml" Id="R608f70293b7a404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10009a3751441c8" /><Relationship Type="http://schemas.openxmlformats.org/officeDocument/2006/relationships/notesMaster" Target="/ppt/notesMasters/notesMaster1.xml" Id="R2d5a4cfecc684be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3e83d8a73f4af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5e94853e7a34962" /><Relationship Type="http://schemas.openxmlformats.org/officeDocument/2006/relationships/slideLayout" Target="/ppt/slideLayouts/slideLayout1.xml" Id="Ra73e05925508404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73e05925508404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fde08eae084aac" /><Relationship Type="http://schemas.openxmlformats.org/officeDocument/2006/relationships/notesSlide" Target="/ppt/notesSlides/notesSlide1.xml" Id="R7ba1a686261d4a9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e0105e133c4938" /><Relationship Type="http://schemas.openxmlformats.org/officeDocument/2006/relationships/notesSlide" Target="/ppt/notesSlides/notesSlide2.xml" Id="Rba99e82e47b54a9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acf8e7f1e041d6" /><Relationship Type="http://schemas.openxmlformats.org/officeDocument/2006/relationships/notesSlide" Target="/ppt/notesSlides/notesSlide3.xml" Id="R736e5076270647e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6C34EC-948C-482A-9170-D3A4AD465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786F"/>
                </a:solidFill>
              </a:defRPr>
            </a:pPr>
            <a:r>
              <a:rPr sz="900" b="1">
                <a:solidFill>
                  <a:srgbClr val="00786F"/>
                </a:solidFill>
              </a:rPr>
              <a:t>WHY CHANGE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746297-A2F3-4494-8304-15365DDEC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20618"/>
                </a:solidFill>
              </a:defRPr>
            </a:pPr>
            <a:r>
              <a:rPr sz="2250" b="1">
                <a:solidFill>
                  <a:srgbClr val="020618"/>
                </a:solidFill>
              </a:rPr>
              <a:t>従来運用の限界: 作業は進むが、全体が見えにくい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EACD2C-F8FE-4AD6-8BDD-1CCF87059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ファイル管理とDDW入力だけでは、届出準備・根拠確認・変更期限・承認履歴が分断されやすい。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38554A-B3BF-46F0-A4C3-50162BE98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7CC539-B444-4C0F-AA3F-24647FF5E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24100"/>
            <a:ext cx="8953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F1F5F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9FFD54-897F-4E74-A410-B51399B97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7172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314158"/>
                </a:solidFill>
              </a:defRPr>
            </a:pPr>
            <a:r>
              <a:rPr sz="825" b="1">
                <a:solidFill>
                  <a:srgbClr val="314158"/>
                </a:solidFill>
              </a:rPr>
              <a:t>File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58F28A-AE64-41BC-BFD3-8F849ABF1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276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20618"/>
                </a:solidFill>
              </a:defRPr>
            </a:pPr>
            <a:r>
              <a:rPr sz="1575" b="1">
                <a:solidFill>
                  <a:srgbClr val="020618"/>
                </a:solidFill>
              </a:rPr>
              <a:t>情報が分散する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7B7B27-6FDD-4E74-8687-E8BF7BB1E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00450"/>
            <a:ext cx="28384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Word/Excel/PDF/メール/Teamsに作業痕跡が散らばり、最新版・根拠資料・確認状況を探す時間が増える。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B0CCDB-D0B6-467D-9E87-D232414D8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95500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D99354-32C2-4DEC-91E7-2BE4E81A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324100"/>
            <a:ext cx="8953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F1F5F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F14F33-3445-4845-B27E-2A9DC15F8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37172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314158"/>
                </a:solidFill>
              </a:defRPr>
            </a:pPr>
            <a:r>
              <a:rPr sz="825" b="1">
                <a:solidFill>
                  <a:srgbClr val="314158"/>
                </a:solidFill>
              </a:rPr>
              <a:t>Risk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50204F-45DC-4077-840D-614C4CDA2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838450"/>
            <a:ext cx="276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20618"/>
                </a:solidFill>
              </a:defRPr>
            </a:pPr>
            <a:r>
              <a:rPr sz="1575" b="1">
                <a:solidFill>
                  <a:srgbClr val="020618"/>
                </a:solidFill>
              </a:rPr>
              <a:t>変更と期限が属人化する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036B90-E609-4F5E-85E6-4771A85B1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600450"/>
            <a:ext cx="28384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分担医師変更などの6か月/12か月期限、変更届の版管理、外字確認が担当者の記憶に依存しやすい。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56563F-2F1C-497E-ACAA-1E6B55372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95500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4BF295-05CF-4905-8649-DA9AA130E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24100"/>
            <a:ext cx="8953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F1F5F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899F39-B8FC-444E-9F7F-C7437AAD5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7172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314158"/>
                </a:solidFill>
              </a:defRPr>
            </a:pPr>
            <a:r>
              <a:rPr sz="825" b="1">
                <a:solidFill>
                  <a:srgbClr val="314158"/>
                </a:solidFill>
              </a:rPr>
              <a:t>Scope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F84D84-4F42-457B-8057-675995001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38450"/>
            <a:ext cx="276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20618"/>
                </a:solidFill>
              </a:defRPr>
            </a:pPr>
            <a:r>
              <a:rPr sz="1575" b="1">
                <a:solidFill>
                  <a:srgbClr val="020618"/>
                </a:solidFill>
              </a:rPr>
              <a:t>DDWは最終登録に特化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1A889D-75F8-44F4-BFCF-215859CD2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00450"/>
            <a:ext cx="28384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DDWには入力結果は残るが、社内の根拠確認・レビュー・承認・変更判断の過程は別管理になりやすい。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A74C60-5860-4E6D-AC39-F5114420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0A1B9"/>
                </a:solidFill>
              </a:defRPr>
            </a:pPr>
            <a:r>
              <a:rPr sz="825" b="0">
                <a:solidFill>
                  <a:srgbClr val="90A1B9"/>
                </a:solidFill>
              </a:rPr>
              <a:t>CTN作成支援 MVP | 1/3</a:t>
            </a:r>
          </a:p>
        </p:txBody>
      </p:sp>
    </p:spTree>
    <p:extLst>
      <p:ext uri="{BB962C8B-B14F-4D97-AF65-F5344CB8AC3E}">
        <p14:creationId xmlns:p14="http://schemas.microsoft.com/office/powerpoint/2010/main" val="20266419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5D908D-9EA7-4892-A469-F352340E4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786F"/>
                </a:solidFill>
              </a:defRPr>
            </a:pPr>
            <a:r>
              <a:rPr sz="900" b="1">
                <a:solidFill>
                  <a:srgbClr val="00786F"/>
                </a:solidFill>
              </a:rPr>
              <a:t>TARGET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3A8D51-7FC2-4238-B86D-A2C35F598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20618"/>
                </a:solidFill>
              </a:defRPr>
            </a:pPr>
            <a:r>
              <a:rPr sz="2250" b="1">
                <a:solidFill>
                  <a:srgbClr val="020618"/>
                </a:solidFill>
              </a:rPr>
              <a:t>CTN作成支援: 届出データを中心に業務を統合する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4AA50B-C487-42BA-A5E7-C87571724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SharePointは文書・根拠保管、Dataverseは構造化データ、ダッシュボードは進捗・期限・承認を担う。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406ABB-7B82-467B-A20F-13A76DB24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905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72AAF3-9F9F-4AB0-B7C5-9785BEB63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52700"/>
            <a:ext cx="6096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F0FDF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491170-0FD3-4A92-B535-E8CCCE25C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0032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5F5A"/>
                </a:solidFill>
              </a:defRPr>
            </a:pPr>
            <a:r>
              <a:rPr sz="825" b="1">
                <a:solidFill>
                  <a:srgbClr val="005F5A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A9E955-AEE9-435B-9550-788B99AA8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33700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マスタ変更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8E604C-F308-4150-A9D3-EE1726ABE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1562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5556C"/>
                </a:solidFill>
              </a:defRPr>
            </a:pPr>
            <a:r>
              <a:rPr sz="975" b="0">
                <a:solidFill>
                  <a:srgbClr val="45556C"/>
                </a:solidFill>
              </a:rPr>
              <a:t>医師・医療機関・薬剤などの変更を一元登録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134CFA-B983-4E34-837A-8CE992D89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381250"/>
            <a:ext cx="1905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DEF015-D268-41C8-AE10-29B81B929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552700"/>
            <a:ext cx="6096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F0FDF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741DA8-505E-4028-8FB9-121FD8605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60032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5F5A"/>
                </a:solidFill>
              </a:defRPr>
            </a:pPr>
            <a:r>
              <a:rPr sz="825" b="1">
                <a:solidFill>
                  <a:srgbClr val="005F5A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DD3201-46D1-4E32-BB91-22E0DFF3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933700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届出候補化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DE1E7B-EE2E-4375-B6F1-C807AF57A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257550"/>
            <a:ext cx="1562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5556C"/>
                </a:solidFill>
              </a:defRPr>
            </a:pPr>
            <a:r>
              <a:rPr sz="975" b="0">
                <a:solidFill>
                  <a:srgbClr val="45556C"/>
                </a:solidFill>
              </a:rPr>
              <a:t>変更種別から届出要否と提出期限を自動判定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301370-8FDB-4962-881D-E8A8A4548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381250"/>
            <a:ext cx="1905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6E898C-CDA8-44C0-B709-80DCA327B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552700"/>
            <a:ext cx="6096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F0FDF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D8D46D-265C-44B7-A3EF-73A913E10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60032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5F5A"/>
                </a:solidFill>
              </a:defRPr>
            </a:pPr>
            <a:r>
              <a:rPr sz="825" b="1">
                <a:solidFill>
                  <a:srgbClr val="005F5A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A7EF9F-E734-4C0D-9E80-3BAE59456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933700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入力・根拠リンク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906259-863D-4235-9ADE-33E4074A8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257550"/>
            <a:ext cx="1562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5556C"/>
                </a:solidFill>
              </a:defRPr>
            </a:pPr>
            <a:r>
              <a:rPr sz="975" b="0">
                <a:solidFill>
                  <a:srgbClr val="45556C"/>
                </a:solidFill>
              </a:rPr>
              <a:t>届出項目とSharePoint資料を紐づけて確認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DB6621-6171-4454-9AC2-44F359075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81250"/>
            <a:ext cx="1905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D3638F-809D-4E98-9E95-2D9A951D0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52700"/>
            <a:ext cx="6096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F0FDF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21B46A-3626-4671-88CA-65AD8013F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60032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5F5A"/>
                </a:solidFill>
              </a:defRPr>
            </a:pPr>
            <a:r>
              <a:rPr sz="825" b="1">
                <a:solidFill>
                  <a:srgbClr val="005F5A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646B02-E5C3-4F42-B45E-3286E59A5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933700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レビュー・承認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9D148A-8590-4031-83D5-9A8071EE3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257550"/>
            <a:ext cx="1562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5556C"/>
                </a:solidFill>
              </a:defRPr>
            </a:pPr>
            <a:r>
              <a:rPr sz="975" b="0">
                <a:solidFill>
                  <a:srgbClr val="45556C"/>
                </a:solidFill>
              </a:rPr>
              <a:t>起票、レビュー、承認をダッシュボードで集中管理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B0AA41-03EE-46BF-B4AE-5BE17289F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381250"/>
            <a:ext cx="1905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7F03AB-750F-4EC9-89B5-605F189F6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552700"/>
            <a:ext cx="6096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F0FDF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1CBB47-A05E-494E-977F-789E97FBE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60032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5F5A"/>
                </a:solidFill>
              </a:defRPr>
            </a:pPr>
            <a:r>
              <a:rPr sz="825" b="1">
                <a:solidFill>
                  <a:srgbClr val="005F5A"/>
                </a:solidFill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0F3EB3-85AB-442A-84F9-0308BA5AE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933700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出力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9600CB-3D74-48AC-AB92-D27978BA1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257550"/>
            <a:ext cx="1562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5556C"/>
                </a:solidFill>
              </a:defRPr>
            </a:pPr>
            <a:r>
              <a:rPr sz="975" b="0">
                <a:solidFill>
                  <a:srgbClr val="45556C"/>
                </a:solidFill>
              </a:rPr>
              <a:t>承認後のみPDFイメージ確認とXML出力を有効化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804F94-AAF8-42A1-90E3-725897CBB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905125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86F"/>
                </a:solidFill>
              </a:defRPr>
            </a:pPr>
            <a:r>
              <a:rPr sz="2100" b="1">
                <a:solidFill>
                  <a:srgbClr val="00786F"/>
                </a:solidFill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74BCD4E-6DF5-43FE-BD96-C66566AAF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905125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86F"/>
                </a:solidFill>
              </a:defRPr>
            </a:pPr>
            <a:r>
              <a:rPr sz="2100" b="1">
                <a:solidFill>
                  <a:srgbClr val="00786F"/>
                </a:solidFill>
              </a:rPr>
              <a:t>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72A688C-1F5C-4E2F-8F45-926F3A6BB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905125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86F"/>
                </a:solidFill>
              </a:defRPr>
            </a:pPr>
            <a:r>
              <a:rPr sz="2100" b="1">
                <a:solidFill>
                  <a:srgbClr val="00786F"/>
                </a:solidFill>
              </a:rPr>
              <a:t>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3CD20B-6317-485A-AC66-BB8CD9AFA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905125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86F"/>
                </a:solidFill>
              </a:defRPr>
            </a:pPr>
            <a:r>
              <a:rPr sz="2100" b="1">
                <a:solidFill>
                  <a:srgbClr val="00786F"/>
                </a:solidFill>
              </a:rPr>
              <a:t>→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5BF5D95-0F2F-44AA-8B15-65C091F8E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19625"/>
            <a:ext cx="8953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CBFBF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B05B072-72A2-4A5B-9FB2-952C11C48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8196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4F4A"/>
                </a:solidFill>
              </a:defRPr>
            </a:pPr>
            <a:r>
              <a:rPr sz="1200" b="1">
                <a:solidFill>
                  <a:srgbClr val="0B4F4A"/>
                </a:solidFill>
              </a:rPr>
              <a:t>設計上のポイント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FEE2A79-B10E-4BC2-ADF6-6DA8D4847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819650"/>
            <a:ext cx="657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B4F4A"/>
                </a:solidFill>
              </a:defRPr>
            </a:pPr>
            <a:r>
              <a:rPr sz="1050" b="0">
                <a:solidFill>
                  <a:srgbClr val="0B4F4A"/>
                </a:solidFill>
              </a:rPr>
              <a:t>入力画面にワークフローを埋め込まず、ダッシュボードで複数届・複数変更を横断管理する。DDWは最終登録先として位置づけ、社内の準備品質を高める。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C0DA6D4-F0A7-4DFE-80AA-4E92977F3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0A1B9"/>
                </a:solidFill>
              </a:defRPr>
            </a:pPr>
            <a:r>
              <a:rPr sz="825" b="0">
                <a:solidFill>
                  <a:srgbClr val="90A1B9"/>
                </a:solidFill>
              </a:rPr>
              <a:t>CTN作成支援 MVP | 2/3</a:t>
            </a:r>
          </a:p>
        </p:txBody>
      </p:sp>
    </p:spTree>
    <p:extLst>
      <p:ext uri="{BB962C8B-B14F-4D97-AF65-F5344CB8AC3E}">
        <p14:creationId xmlns:p14="http://schemas.microsoft.com/office/powerpoint/2010/main" val="1082789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DBD298-D55F-4F8B-9555-15268A697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786F"/>
                </a:solidFill>
              </a:defRPr>
            </a:pPr>
            <a:r>
              <a:rPr sz="900" b="1">
                <a:solidFill>
                  <a:srgbClr val="00786F"/>
                </a:solidFill>
              </a:rPr>
              <a:t>MVP VALUE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BC0633-DB7E-4D17-8212-468E248A3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20618"/>
                </a:solidFill>
              </a:defRPr>
            </a:pPr>
            <a:r>
              <a:rPr sz="2250" b="1">
                <a:solidFill>
                  <a:srgbClr val="020618"/>
                </a:solidFill>
              </a:rPr>
              <a:t>MVPで示すべき改善効果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613138-17FA-44BA-B3FA-3C9F58056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初回届20製品、各10回以上の変更届が並行しても、進捗・期限・差分・承認を同じ画面で追える状態を作る。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504312-C7F4-4216-B553-C850D0199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1054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D08E47-E797-4C0D-AD81-D157FEF98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114300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7FFF"/>
          </a:solidFill>
          <a:ln xmlns:a="http://schemas.openxmlformats.org/drawingml/2006/main" w="9525">
            <a:solidFill>
              <a:srgbClr val="2B7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37A365-7937-4207-B8EC-1E2C095BB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241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最新版と差分が見える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84FE15-B215-4135-9965-AF2B00425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479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5556C"/>
                </a:solidFill>
              </a:defRPr>
            </a:pPr>
            <a:r>
              <a:rPr sz="975" b="0">
                <a:solidFill>
                  <a:srgbClr val="45556C"/>
                </a:solidFill>
              </a:rPr>
              <a:t>届出単位、製品単位、版単位で変更履歴を持ち、既存PDF取込後の変更管理にもつなげる。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B42FAC-5D61-40CE-81C8-DE61C630B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51054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E8B024-2C64-4239-AC9C-AFDE23823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324100"/>
            <a:ext cx="114300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900"/>
          </a:solidFill>
          <a:ln xmlns:a="http://schemas.openxmlformats.org/drawingml/2006/main" w="9525">
            <a:solidFill>
              <a:srgbClr val="FFB9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496AC3-D561-4968-B025-22C392B48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241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期限漏れを防ぐ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9E2548-953E-4E46-BA50-14B78078D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6479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5556C"/>
                </a:solidFill>
              </a:defRPr>
            </a:pPr>
            <a:r>
              <a:rPr sz="975" b="0">
                <a:solidFill>
                  <a:srgbClr val="45556C"/>
                </a:solidFill>
              </a:rPr>
              <a:t>変更日を起点に6か月/12か月期限を算出し、担当者・承認者へリマインドする。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C49B35-FFBB-4C2F-A903-3350D42B1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51054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56C573-EABE-4E5B-8BB8-DBECACFE1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10000"/>
            <a:ext cx="114300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BC7D"/>
          </a:solidFill>
          <a:ln xmlns:a="http://schemas.openxmlformats.org/drawingml/2006/main" w="9525">
            <a:solidFill>
              <a:srgbClr val="00BC7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420A72-E326-466B-9C4C-799DC3882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100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レビューと承認を統制する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939C89-AA91-47C6-8220-869FC23FF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338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5556C"/>
                </a:solidFill>
              </a:defRPr>
            </a:pPr>
            <a:r>
              <a:rPr sz="975" b="0">
                <a:solidFill>
                  <a:srgbClr val="45556C"/>
                </a:solidFill>
              </a:rPr>
              <a:t>起票、レビュー、承認、出力を分け、承認前のPDF/XML出力を抑止する。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C171A6-9684-4837-9A73-D185E0D1B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81400"/>
            <a:ext cx="51054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F30375-9F8A-4A95-A858-072839034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810000"/>
            <a:ext cx="114300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2056"/>
          </a:solidFill>
          <a:ln xmlns:a="http://schemas.openxmlformats.org/drawingml/2006/main" w="9525">
            <a:solidFill>
              <a:srgbClr val="FF205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60F70C-D0DA-43AE-8B60-49225466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8100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入力品質を上げる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91F5C0-CAEB-4217-A1FA-992964801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1338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5556C"/>
                </a:solidFill>
              </a:defRPr>
            </a:pPr>
            <a:r>
              <a:rPr sz="975" b="0">
                <a:solidFill>
                  <a:srgbClr val="45556C"/>
                </a:solidFill>
              </a:rPr>
              <a:t>外字、表記ゆれ、順序番号、複数医師・施設・薬剤の入力チェックを構造化する。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9FDEDD-BF00-489A-9BC7-F858AC045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334000"/>
            <a:ext cx="85725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0F172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9C7207-BA4F-4FBC-967E-B890C63D1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52450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結論: DDWを置き換えるのではなく、DDW入力前後の社内プロセスを構造化し、提出品質と期限管理を安定させる。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AE8429-378B-4D6E-B4A7-FD2F393DC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0A1B9"/>
                </a:solidFill>
              </a:defRPr>
            </a:pPr>
            <a:r>
              <a:rPr sz="825" b="0">
                <a:solidFill>
                  <a:srgbClr val="90A1B9"/>
                </a:solidFill>
              </a:rPr>
              <a:t>CTN作成支援 MVP | 3/3</a:t>
            </a:r>
          </a:p>
        </p:txBody>
      </p:sp>
    </p:spTree>
    <p:extLst>
      <p:ext uri="{BB962C8B-B14F-4D97-AF65-F5344CB8AC3E}">
        <p14:creationId xmlns:p14="http://schemas.microsoft.com/office/powerpoint/2010/main" val="1360209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2026-06-16T07:12:34.8550000Z</dcterms:created>
  <dcterms:modified xsi:type="dcterms:W3CDTF">2026-06-16T07:12:34.8550000Z</dcterms:modified>
</coreProperties>
</file>