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dae975d7bb494a" /><Relationship Type="http://schemas.openxmlformats.org/officeDocument/2006/relationships/extended-properties" Target="/docProps/app.xml" Id="Rb1f78e552e834f35" /><Relationship Type="http://schemas.openxmlformats.org/officeDocument/2006/relationships/officeDocument" Target="/ppt/presentation.xml" Id="R9d6a005e29ba49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a7d7f94f1c4f72"/>
  </p:sldMasterIdLst>
  <p:notesMasterIdLst>
    <p:notesMasterId xmlns:r="http://schemas.openxmlformats.org/officeDocument/2006/relationships" r:id="R044433a05a9b49ad"/>
  </p:notesMasterIdLst>
  <p:sldIdLst>
    <p:sldId xmlns:r="http://schemas.openxmlformats.org/officeDocument/2006/relationships" id="256" r:id="Rb5774c9b01394ac1"/>
    <p:sldId xmlns:r="http://schemas.openxmlformats.org/officeDocument/2006/relationships" id="257" r:id="R8daf41d344ea4796"/>
    <p:sldId xmlns:r="http://schemas.openxmlformats.org/officeDocument/2006/relationships" id="258" r:id="Re1184930ce634b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d71d283e12440d" /><Relationship Type="http://schemas.openxmlformats.org/officeDocument/2006/relationships/slideMaster" Target="/ppt/slideMasters/slideMaster1.xml" Id="R64a7d7f94f1c4f72" /><Relationship Type="http://schemas.openxmlformats.org/officeDocument/2006/relationships/notesMaster" Target="/ppt/notesMasters/notesMaster1.xml" Id="R044433a05a9b49ad" /><Relationship Type="http://schemas.openxmlformats.org/officeDocument/2006/relationships/presProps" Target="/ppt/presProps.xml" Id="R86671c4ef593437d" /><Relationship Type="http://schemas.openxmlformats.org/officeDocument/2006/relationships/tableStyles" Target="/ppt/tableStyles.xml" Id="R4ef8e0e77b9f4105" /><Relationship Type="http://schemas.openxmlformats.org/officeDocument/2006/relationships/slide" Target="/ppt/slides/slide1.xml" Id="Rb5774c9b01394ac1" /><Relationship Type="http://schemas.openxmlformats.org/officeDocument/2006/relationships/slide" Target="/ppt/slides/slide2.xml" Id="R8daf41d344ea4796" /><Relationship Type="http://schemas.openxmlformats.org/officeDocument/2006/relationships/slide" Target="/ppt/slides/slide3.xml" Id="Re1184930ce634b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2927a3f757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f0e21e358d4cde" /><Relationship Type="http://schemas.openxmlformats.org/officeDocument/2006/relationships/notesMaster" Target="/ppt/notesMasters/notesMaster1.xml" Id="Rb3b0f3b85d52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23cd21fe774f96" /><Relationship Type="http://schemas.openxmlformats.org/officeDocument/2006/relationships/notesMaster" Target="/ppt/notesMasters/notesMaster1.xml" Id="Rcc4f8a74be2449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34b0434ae74f7f" /><Relationship Type="http://schemas.openxmlformats.org/officeDocument/2006/relationships/notesMaster" Target="/ppt/notesMasters/notesMaster1.xml" Id="R4e73b41cb1c640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457f4754846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3c5e41f5744aa9" /><Relationship Type="http://schemas.openxmlformats.org/officeDocument/2006/relationships/slideLayout" Target="/ppt/slideLayouts/slideLayout1.xml" Id="R2419d1a061fb43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19d1a061fb43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eb06bfd8e4d02" /><Relationship Type="http://schemas.openxmlformats.org/officeDocument/2006/relationships/notesSlide" Target="/ppt/notesSlides/notesSlide1.xml" Id="Rf2891f0c1c1f45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7d14c00c8416e" /><Relationship Type="http://schemas.openxmlformats.org/officeDocument/2006/relationships/notesSlide" Target="/ppt/notesSlides/notesSlide2.xml" Id="R99b65d943bb149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88569317d4aef" /><Relationship Type="http://schemas.openxmlformats.org/officeDocument/2006/relationships/notesSlide" Target="/ppt/notesSlides/notesSlide3.xml" Id="Re7fb90a9c40f41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95B146-1CE8-4E75-A148-253496BB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WHY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EDD25-9F0C-4C02-8BD4-19A2022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従来運用の限界: 作業は進むが、全体が見えにくい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1918C-0210-44CA-95B1-6CAED25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ファイル管理とDDW入力だけでは、届出準備・根拠確認・変更期限・承認履歴が分断されやすい。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8F090-64A2-4F5D-B6A5-2431B5AB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41D37-481F-4E3F-AA25-F7BB663C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10566-13E1-49A6-A906-7741D1F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CDB6B-C284-4A9C-8495-6B6211A8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情報が分散する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A1A68-CAAB-4DB8-AE84-1A91D021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Word/Excel/PDF/メール/Teamsに作業痕跡が散らばり、最新版・根拠資料・確認状況を探す時間が増える。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70D8B-1812-46EB-800A-39902E03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B9915-8159-4D5F-B7E0-0ECF7680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3856B-F9E0-4C4B-B9D2-669764B8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71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B8551-F89E-45E9-B1F5-019E6624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384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変更と期限が属人化する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04A92-8602-49F3-8A92-B74192B3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0045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分担医師変更などの6か月/12か月期限、変更届の版管理、外字確認が担当者の記憶に依存しやすい。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C4233-20BA-4078-9FFF-D8336859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96B28-F8A2-4713-85A1-BD730E5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E4C05-A912-403A-922F-42AE9343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717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58874-1DFB-4231-BC85-DFBFA876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DDW前提のワークフローの限界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40235-87B0-444F-BF18-129D7205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838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DDWには入力結果は残るが、社内の根拠確認・レビュー・承認・変更判断の過程は別管理になりやすい。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702B1-8948-45A7-96AF-B6C48D53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CTN作成支援 MVP | 1/3</a:t>
            </a:r>
          </a:p>
        </p:txBody>
      </p:sp>
    </p:spTree>
    <p:extLst>
      <p:ext uri="{BB962C8B-B14F-4D97-AF65-F5344CB8AC3E}">
        <p14:creationId xmlns:p14="http://schemas.microsoft.com/office/powerpoint/2010/main" val="1743000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4E7644-965F-496A-A3CD-0C45BCE3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TARGET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35146-2925-43F7-A5D7-2C876B65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CTN作成支援: 届出データを中心に業務を統合する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82EB2-CC7C-48C5-B347-EBB876C9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SharePointは文書・根拠保管、Dataverseは構造化データ、ダッシュボードは進捗・期限・承認を担う。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684AB-8643-4589-AEF3-2D47795E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F142A-81F5-4060-A9BE-F6FADB07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2A59F-5E06-435A-9EAE-19BC1614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3095F-6E57-4C1A-8414-D8C971B8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マスタ変更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E92E6-AABE-49F9-8BA4-20E8043D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医師・医療機関・薬剤などの変更を一元登録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24F9C-B4F2-4AAC-9B00-D4C44081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2F245-6ED3-4EE7-B894-DD3B4D00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7BDAA-8AC0-4EEA-BB5E-AC61926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08257-BCF1-4554-8823-7B34CD8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届出候補化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E2BA8-3652-4B05-BD31-6E809C27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変更種別から届出要否と提出期限を自動判定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69A8D-DD24-4215-A27B-3A338AF9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8CE4B-50DC-47FA-B3FC-A4A93DDE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8E0B6-D530-460D-8525-7EBAEEBA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CCAFE-87DD-4204-A507-21EF5365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入力・根拠リンク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11E8E-27A3-424B-9E85-6ECE362C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届出項目とSharePoint資料を紐づけて確認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7C583-A05D-4F32-80DE-72F66A23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81A1E-F611-4658-8AD4-4B52E81A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B20D4-30AB-4F52-B228-12612573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EA381-3C11-4486-8788-5BB999CF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レビュー・承認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9B019-9101-42E4-9EEB-EAC0FD7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起票、レビュー、承認をダッシュボードで集中管理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17447-58E4-4832-8865-A88B97CD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8E6B8-B642-4492-BBE1-37EDAA01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527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F0FD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DFE1D8-44AC-4515-9F39-072A454E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003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5F5A"/>
                </a:solidFill>
              </a:defRPr>
            </a:pPr>
            <a:r>
              <a:rPr sz="825" b="1">
                <a:solidFill>
                  <a:srgbClr val="005F5A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C06DC-8D49-4AA7-879B-559D0F25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33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出力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C3A4FE-3D9C-43E5-ABF0-03DB35A9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575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承認後のみPDFイメージ確認とXML出力を有効化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80999-8816-4144-B808-28F4851E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24F31E-86C6-43BE-922D-0D3876E9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0FBE8A-1B43-49A5-898E-12EE3F15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FFA9B6-03F1-4668-9F66-B95BCB68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051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86F"/>
                </a:solidFill>
              </a:defRPr>
            </a:pPr>
            <a:r>
              <a:rPr sz="2100" b="1">
                <a:solidFill>
                  <a:srgbClr val="00786F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7E7A0-D28A-43B6-813A-992C11E7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895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B3E0CC-392D-4F4C-840C-850428EE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4F4A"/>
                </a:solidFill>
              </a:defRPr>
            </a:pPr>
            <a:r>
              <a:rPr sz="1200" b="1">
                <a:solidFill>
                  <a:srgbClr val="0B4F4A"/>
                </a:solidFill>
              </a:rPr>
              <a:t>設計上のポイント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AADC37-E7A7-4FB9-847C-321257B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96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B4F4A"/>
                </a:solidFill>
              </a:defRPr>
            </a:pPr>
            <a:r>
              <a:rPr sz="1050" b="0">
                <a:solidFill>
                  <a:srgbClr val="0B4F4A"/>
                </a:solidFill>
              </a:rPr>
              <a:t>入力画面にワークフローを埋め込まず、ダッシュボードで複数届・複数変更を横断管理する。DDWは最終登録先として位置づけ、社内の準備品質を高める。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993259-2902-4322-9175-C55610DB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CTN作成支援 MVP | 2/3</a:t>
            </a:r>
          </a:p>
        </p:txBody>
      </p:sp>
    </p:spTree>
    <p:extLst>
      <p:ext uri="{BB962C8B-B14F-4D97-AF65-F5344CB8AC3E}">
        <p14:creationId xmlns:p14="http://schemas.microsoft.com/office/powerpoint/2010/main" val="670703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1737FA-EB47-417C-ABE0-AA55A227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86F"/>
                </a:solidFill>
              </a:defRPr>
            </a:pPr>
            <a:r>
              <a:rPr sz="900" b="1">
                <a:solidFill>
                  <a:srgbClr val="00786F"/>
                </a:solidFill>
              </a:rPr>
              <a:t>MVP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1AB8C-2C13-43CE-970A-E23AD270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MVPで示すべき改善効果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D0533-1BB8-4E04-B6E3-F6E036E0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初回届20製品、各10回以上の変更届が並行しても、進捗・期限・差分・承認を同じ画面で追える状態を作る。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7F046-0F73-48D7-A8B8-EC862EAF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C37FC-A519-439E-BA76-0184236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9ED2F-2850-44E7-9472-F15FE935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全体像が把握できる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FE606-07FB-4157-BB96-31EF6624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製品別・届出別・版別に進捗、変更状況、期限、レビュー状態を横断して確認できる。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FBEDA-50D9-492E-AD8A-39EE4A6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9C41F-5CE3-4F34-B2BB-A2A10B39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09DE0-F735-4D5C-AF74-2166D911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期限漏れを防ぐ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FB500-8FB9-4020-847D-A3B20EB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変更日を起点に6か月/12か月期限を算出し、担当者・承認者へリマインドする。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2D4DB-1F48-4248-B009-03BC146A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F6211-E261-4048-ADAA-DE0304C1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9525">
            <a:solidFill>
              <a:srgbClr val="00BC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FA53B-7400-44A3-96D9-2110E555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レビューと承認を統制する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9C9D3-7B5F-4A2E-9110-6F2D75A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起票、レビュー、承認、出力を分け、承認前のPDF/XML出力を抑止する。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B03F3-EA86-4233-AFD1-B929A51A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510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9558D-54D7-4CE8-9DA1-E7C3F572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1143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9525">
            <a:solidFill>
              <a:srgbClr val="FF20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83743-4959-4284-90D0-BD96F216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0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入力品質を上げる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B0150-8B84-414F-A749-29FCAF03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33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5556C"/>
                </a:solidFill>
              </a:defRPr>
            </a:pPr>
            <a:r>
              <a:rPr sz="975" b="0">
                <a:solidFill>
                  <a:srgbClr val="45556C"/>
                </a:solidFill>
              </a:rPr>
              <a:t>外字、表記ゆれ、順序番号、複数医師・施設・薬剤の入力チェックを構造化する。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162C6-1F9D-4F5B-8373-5999DB8C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F17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A650E-F89B-4F13-8DCF-AB1C8DAE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結論: DDWを置き換えるのではなく、DDW入力前後の社内プロセスを構造化し、提出品質と期限管理を安定させる。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C2518-9007-47A8-AD6C-796CE9B2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0A1B9"/>
                </a:solidFill>
              </a:defRPr>
            </a:pPr>
            <a:r>
              <a:rPr sz="825" b="0">
                <a:solidFill>
                  <a:srgbClr val="90A1B9"/>
                </a:solidFill>
              </a:rPr>
              <a:t>CTN作成支援 MVP | 3/3</a:t>
            </a:r>
          </a:p>
        </p:txBody>
      </p:sp>
    </p:spTree>
    <p:extLst>
      <p:ext uri="{BB962C8B-B14F-4D97-AF65-F5344CB8AC3E}">
        <p14:creationId xmlns:p14="http://schemas.microsoft.com/office/powerpoint/2010/main" val="443184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2026-06-16T07:29:44.5120000Z</dcterms:created>
  <dcterms:modified xsi:type="dcterms:W3CDTF">2026-06-16T07:29:44.5120000Z</dcterms:modified>
</coreProperties>
</file>